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18688"/>
            <a:ext cx="12191695" cy="381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255264"/>
            <a:ext cx="12191695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Banking 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D6E8F7"/>
                </a:solidFill>
                <a:latin typeface="Segoe UI"/>
              </a:rPr>
              <a:t>End-to-End Lakehouse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1463040" cy="347472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Segoe UI"/>
              </a:rPr>
              <a:t>Azure Data Lake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931920"/>
            <a:ext cx="1463040" cy="347472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393192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Segoe UI"/>
              </a:rPr>
              <a:t>Databricks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3931920"/>
            <a:ext cx="1463040" cy="347472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3360" y="393192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Segoe UI"/>
              </a:rPr>
              <a:t>Event Hubs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3931920"/>
            <a:ext cx="1463040" cy="347472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7840" y="393192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Segoe UI"/>
              </a:rPr>
              <a:t>Synapse Analytics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3931920"/>
            <a:ext cx="1463040" cy="347472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393192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Segoe UI"/>
              </a:rPr>
              <a:t>Power BI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3931920"/>
            <a:ext cx="1463040" cy="347472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393192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Segoe UI"/>
              </a:rPr>
              <a:t>ADF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3931920"/>
            <a:ext cx="1463040" cy="347472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0" y="3931920"/>
            <a:ext cx="1463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D6E8F7"/>
                </a:solidFill>
                <a:latin typeface="Segoe UI"/>
              </a:rPr>
              <a:t>Logic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35040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Segoe UI"/>
              </a:rPr>
              <a:t>Prepared by  Gokul Sankar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45720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636776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Segoe UI"/>
              </a:rPr>
              <a:t>Project Overview &amp; Business Objective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21992"/>
            <a:ext cx="45720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2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25856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Segoe UI"/>
              </a:rPr>
              <a:t>Azure Services Used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45720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84378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880360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Segoe UI"/>
              </a:rPr>
              <a:t>Medallion Architecture (Bronze / Silver / Gold)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65576"/>
            <a:ext cx="45720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46557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502152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Segoe UI"/>
              </a:rPr>
              <a:t>Batch Pipeline — Ingestion to Gold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87368"/>
            <a:ext cx="45720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8736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123944"/>
            <a:ext cx="47548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374151"/>
                </a:solidFill>
                <a:latin typeface="Segoe UI"/>
              </a:rPr>
              <a:t>Gold Layer — </a:t>
            </a:r>
            <a:r>
              <a:rPr lang="en-GB" sz="1400" dirty="0">
                <a:solidFill>
                  <a:srgbClr val="374151"/>
                </a:solidFill>
                <a:latin typeface="Segoe UI"/>
              </a:rPr>
              <a:t>Batch pipeline</a:t>
            </a:r>
            <a:endParaRPr sz="1400" b="0" i="0" dirty="0">
              <a:solidFill>
                <a:srgbClr val="374151"/>
              </a:solidFill>
              <a:latin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4709160"/>
            <a:ext cx="45720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745736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Segoe UI"/>
              </a:rPr>
              <a:t>Streaming Pipeline — Event Hub to Gold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600200"/>
            <a:ext cx="4572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1600200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1636776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Segoe UI"/>
              </a:rPr>
              <a:t>Streaming Gold Tables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221992"/>
            <a:ext cx="4572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2221992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225856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Segoe UI"/>
              </a:rPr>
              <a:t>ADF Orchestration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43784"/>
            <a:ext cx="4572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2843784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2880360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Segoe UI"/>
              </a:rPr>
              <a:t>Monitoring &amp; Email Notifications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465576"/>
            <a:ext cx="4572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3465576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3502152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Segoe UI"/>
              </a:rPr>
              <a:t>Power BI — Batch Analytics Dashboard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087368"/>
            <a:ext cx="4572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087368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4123944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Segoe UI"/>
              </a:rPr>
              <a:t>Power BI — Real-Time Streaming 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709160"/>
            <a:ext cx="4572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4709160"/>
            <a:ext cx="457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872" y="4745736"/>
            <a:ext cx="47548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374151"/>
                </a:solidFill>
                <a:latin typeface="Segoe UI"/>
              </a:rPr>
              <a:t>Key Business Insights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1600200"/>
            <a:ext cx="25400" cy="384048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What this project builds and delivers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39496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120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Business Objective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84248"/>
            <a:ext cx="539496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039112"/>
            <a:ext cx="512064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Build a full lakehouse platform for a retail bank — ingesting customer, account, card, and loan data, plus real-time transaction, fraud, and login event streams — to power analytics on churn, gap analysis, city performance, and live fraud monitoring.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00200"/>
            <a:ext cx="553212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257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84248"/>
            <a:ext cx="55321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039112"/>
            <a:ext cx="525780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Two parallel pipelines feeding the same Gold and Power BI layer:
  Batch: historical CSV datasets (customers, accounts, cards, loans)
  Streaming: live transactions, fraud alerts, login events via Event Hub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1155680" cy="384048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B3155"/>
                </a:solidFill>
                <a:latin typeface="Segoe UI"/>
              </a:rPr>
              <a:t>Key Outcomes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70248"/>
            <a:ext cx="1115568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325112"/>
            <a:ext cx="1088136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Two ADF-orchestrated pipelines (batch + streaming) with scheduled triggers  ·  Star-schema Gold model (dim/fact) for flexible analytics  ·  9 streaming Gold tables for near real-time monitoring  ·  Two Power BI dashboards: Historical Analytics &amp; Real-Time Operations  ·  Automated email alerts on pipeline success/failure via Logic Apps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Azure Services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Eight Azure services working together end-to-end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5303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600200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645920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155"/>
                </a:solidFill>
                <a:latin typeface="Segoe UI"/>
              </a:rPr>
              <a:t>Azure Data Lake Storage Gen2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37360"/>
            <a:ext cx="19050" cy="256032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1645920"/>
            <a:ext cx="7406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Bronze / Silver / Gold containers — single source of truth across all pipeline layers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76272"/>
            <a:ext cx="73152" cy="530352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2176272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221992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155"/>
                </a:solidFill>
                <a:latin typeface="Segoe UI"/>
              </a:rPr>
              <a:t>Azure Key Vault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313432"/>
            <a:ext cx="19050" cy="256032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0" y="2221992"/>
            <a:ext cx="7406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Secure storage for storage account keys and Event Hub connection strings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52344"/>
            <a:ext cx="73152" cy="530352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072" y="2752344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2798064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155"/>
                </a:solidFill>
                <a:latin typeface="Segoe UI"/>
              </a:rPr>
              <a:t>Azure Databricks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889504"/>
            <a:ext cx="19050" cy="256032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0" y="2798064"/>
            <a:ext cx="7406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Spark-based ETL — Bronze ingestion, Silver cleansing, Gold aggregation (batch + streaming)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28416"/>
            <a:ext cx="73152" cy="530352"/>
          </a:xfrm>
          <a:prstGeom prst="rect">
            <a:avLst/>
          </a:prstGeom>
          <a:solidFill>
            <a:srgbClr val="C9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6072" y="3328416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374136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155"/>
                </a:solidFill>
                <a:latin typeface="Segoe UI"/>
              </a:rPr>
              <a:t>Azure Event Hubs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465576"/>
            <a:ext cx="19050" cy="256032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60" y="3374136"/>
            <a:ext cx="7406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Real-time ingestion of transactions, fraud alerts, and login events via Kafka protocol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904488"/>
            <a:ext cx="73152" cy="530352"/>
          </a:xfrm>
          <a:prstGeom prst="rect">
            <a:avLst/>
          </a:prstGeom>
          <a:solidFill>
            <a:srgbClr val="0D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" y="3904488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3950208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155"/>
                </a:solidFill>
                <a:latin typeface="Segoe UI"/>
              </a:rPr>
              <a:t>Azure Data Factory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041648"/>
            <a:ext cx="19050" cy="256032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23360" y="3950208"/>
            <a:ext cx="7406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Orchestrates all pipelines — scheduling, dependency chains, failure handling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80560"/>
            <a:ext cx="73152" cy="530352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6072" y="4480560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4526280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155"/>
                </a:solidFill>
                <a:latin typeface="Segoe UI"/>
              </a:rPr>
              <a:t>Azure Synapse Analytics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617720"/>
            <a:ext cx="19050" cy="256032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23360" y="4526280"/>
            <a:ext cx="7406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Serverless SQL views over Gold Delta files — query layer for Power BI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056632"/>
            <a:ext cx="73152" cy="5303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76072" y="5056632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5102352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155"/>
                </a:solidFill>
                <a:latin typeface="Segoe UI"/>
              </a:rPr>
              <a:t>Power BI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5193792"/>
            <a:ext cx="19050" cy="256032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23360" y="5102352"/>
            <a:ext cx="7406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Two dashboards — historical batch analytics and real-time streaming monitor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632704"/>
            <a:ext cx="73152" cy="530352"/>
          </a:xfrm>
          <a:prstGeom prst="rect">
            <a:avLst/>
          </a:prstGeom>
          <a:solidFill>
            <a:srgbClr val="80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76072" y="5632704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8" y="5678424"/>
            <a:ext cx="3017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155"/>
                </a:solidFill>
                <a:latin typeface="Segoe UI"/>
              </a:rPr>
              <a:t>Azure Logic Apps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5769864"/>
            <a:ext cx="19050" cy="256032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23360" y="5678424"/>
            <a:ext cx="74066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Email notifications on pipeline success / failure via SMTP (Gmail App Password)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Medallion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Bronze  →  Silver  →  Gold — progressive data refinement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26517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56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2651760" cy="822960"/>
          </a:xfrm>
          <a:prstGeom prst="rect">
            <a:avLst/>
          </a:prstGeom>
          <a:solidFill>
            <a:srgbClr val="556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58568"/>
            <a:ext cx="2468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Source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70632"/>
            <a:ext cx="2377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Unmodified source data
ADLS raw container
Event Hub (streaming)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42900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3155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783080"/>
            <a:ext cx="26517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A05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1783080"/>
            <a:ext cx="2651760" cy="822960"/>
          </a:xfrm>
          <a:prstGeom prst="rect">
            <a:avLst/>
          </a:prstGeom>
          <a:solidFill>
            <a:srgbClr val="A05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1828800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258568"/>
            <a:ext cx="2468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As-Is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70632"/>
            <a:ext cx="2377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CSV → Delta format
Add tracking columns:
_source_file, _ingested_at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342900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3155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6517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651760" cy="822960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828800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SILVER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258568"/>
            <a:ext cx="2468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Cleaned &amp; Conformed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70632"/>
            <a:ext cx="2377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Type casting (dates, numerics)
Standardise text (initcap)
Drop duplicates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342900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3155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783080"/>
            <a:ext cx="26517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1783080"/>
            <a:ext cx="2651760" cy="82296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1828800"/>
            <a:ext cx="2468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GOLD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258568"/>
            <a:ext cx="2468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Business-Ready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770632"/>
            <a:ext cx="2377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Star schema (batch)
Aggregated tables (streaming)
Synapse views → Power BI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Batch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CSV datasets  →  Bronze  →  Silver  →  Gold (Star Schema)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566160" cy="530352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01  Bronze Ingestion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30552"/>
            <a:ext cx="35661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258568"/>
            <a:ext cx="323697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Reads accounts, cards, customers, loans CSVs from ADLS raw container.
Adds _source_file and _ingested_at tracking columns.
Writes as Delta format — no data changes, schema preserved.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78892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B3155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00200"/>
            <a:ext cx="3566160" cy="5303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6552" y="1600200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02  Silver Transformation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2130552"/>
            <a:ext cx="35661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43984" y="2258568"/>
            <a:ext cx="323697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Casts date columns (dd-MM-yyyy  →  DATE type).
Casts numeric types (balance  →  double, credit_score  →  int).
Trims whitespace, standardises text casing with initcap.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788920"/>
            <a:ext cx="20116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B3155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4" y="1600200"/>
            <a:ext cx="3566160" cy="530352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1600200"/>
            <a:ext cx="3291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03  Gold — Star 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5864" y="2130552"/>
            <a:ext cx="35661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0456" y="2258568"/>
            <a:ext cx="3236976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Dimensions: dim_customer, dim_date, dim_account_type, dim_risk
Facts: fact_account, fact_loan, fact_card
All layers written to ADLS as Delta, read by Synapse views.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72000"/>
            <a:ext cx="11155680" cy="381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155680" cy="1417320"/>
          </a:xfrm>
          <a:prstGeom prst="rect">
            <a:avLst/>
          </a:prstGeom>
          <a:solidFill>
            <a:srgbClr val="FDF6E3"/>
          </a:solidFill>
          <a:ln w="12700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6908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02B"/>
                </a:solidFill>
                <a:latin typeface="Segoe UI"/>
              </a:rPr>
              <a:t>Business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0176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Customer Churn  ·  Signup-to-Account Gap Analysis  ·  City Metrics  ·  Monthly New Account &amp; Loan Trend  ·  Loan Risk Analysis  ·  Customer 360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Gold Layer -- Batch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Business-ready tables written to ADLS and exposed via Synapse 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394960" cy="4572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394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1B3155"/>
                </a:solidFill>
                <a:latin typeface="Segoe UI"/>
              </a:rPr>
              <a:t>Dimensions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73152" cy="658368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" y="2148840"/>
            <a:ext cx="53218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3155"/>
                </a:solidFill>
                <a:latin typeface="Segoe UI"/>
              </a:rPr>
              <a:t>dim_customer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7802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Stores customer details: name, city, credit score, credit tier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98648"/>
            <a:ext cx="73152" cy="658368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" y="2898648"/>
            <a:ext cx="53218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94436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3155"/>
                </a:solidFill>
                <a:latin typeface="Segoe UI"/>
              </a:rPr>
              <a:t>dim_date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2783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Full calendar table: day, month, quarter, year, weekend flag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48456"/>
            <a:ext cx="73152" cy="658368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072" y="3648456"/>
            <a:ext cx="53218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69417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3155"/>
                </a:solidFill>
                <a:latin typeface="Segoe UI"/>
              </a:rPr>
              <a:t>dim_account_type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7764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Account type lookup: Savings, Checking, Business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98264"/>
            <a:ext cx="73152" cy="658368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" y="4398264"/>
            <a:ext cx="53218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44398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3155"/>
                </a:solidFill>
                <a:latin typeface="Segoe UI"/>
              </a:rPr>
              <a:t>dim_risk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2744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Risk band lookup: Low Risk, Medium Risk, High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600200"/>
            <a:ext cx="5394960" cy="45720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600200"/>
            <a:ext cx="5394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Fact Tables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48840"/>
            <a:ext cx="73152" cy="65836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82512" y="2148840"/>
            <a:ext cx="53218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1945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3155"/>
                </a:solidFill>
                <a:latin typeface="Segoe UI"/>
              </a:rPr>
              <a:t>fact_account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47802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One row per account: balance, status, churn, gap analysis fields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898648"/>
            <a:ext cx="73152" cy="65836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82512" y="2898648"/>
            <a:ext cx="53218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94436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3155"/>
                </a:solidFill>
                <a:latin typeface="Segoe UI"/>
              </a:rPr>
              <a:t>fact_loan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22783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One row per loan: amount, interest rate, risk category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648456"/>
            <a:ext cx="73152" cy="65836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82512" y="3648456"/>
            <a:ext cx="53218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369417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3155"/>
                </a:solidFill>
                <a:latin typeface="Segoe UI"/>
              </a:rPr>
              <a:t>fact_card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97764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One row per card: card type, linked to account and customer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1600200"/>
            <a:ext cx="25400" cy="411480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Streaming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Event Producer  →  Event Hub  →  Bronze  →  Silver  →  Gold (every 15 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20"/>
            <a:ext cx="2103120" cy="804672"/>
          </a:xfrm>
          <a:prstGeom prst="rect">
            <a:avLst/>
          </a:prstGeom>
          <a:solidFill>
            <a:srgbClr val="C9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2103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Event Producer
(Python, local)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9192"/>
            <a:ext cx="210312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C9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788920"/>
            <a:ext cx="188366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3 generators in parallel threads
(transactions, fraud, login events)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32461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B3155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8336" y="1874520"/>
            <a:ext cx="2103120" cy="804672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88336" y="1874520"/>
            <a:ext cx="2103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Event 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88336" y="2679192"/>
            <a:ext cx="210312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98064" y="2788920"/>
            <a:ext cx="188366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Single hub: banking-transactions
event_type field routes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2461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B3155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19472" y="1874520"/>
            <a:ext cx="2103120" cy="804672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9472" y="1874520"/>
            <a:ext cx="2103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Bronze
(Databricks Streaming)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9472" y="2679192"/>
            <a:ext cx="210312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788920"/>
            <a:ext cx="188366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spark.readStream from Event Hub
3 continuous Delta writers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32461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B3155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0608" y="1874520"/>
            <a:ext cx="2103120" cy="8046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50608" y="1874520"/>
            <a:ext cx="2103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Silver
(Databricks Streaming)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50608" y="2679192"/>
            <a:ext cx="210312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0336" y="2788920"/>
            <a:ext cx="188366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Cleansing + derived columns
(amount_category, session_category)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324612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B3155"/>
                </a:solidFill>
                <a:latin typeface="Segoe U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81744" y="1874520"/>
            <a:ext cx="2103120" cy="804672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81744" y="1874520"/>
            <a:ext cx="2103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Gold
(Databricks Batch, 15-min trigger)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81744" y="2679192"/>
            <a:ext cx="210312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1472" y="2788920"/>
            <a:ext cx="188366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9 aggregated tables
views created in Synapse
to connect to Power BI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12080"/>
            <a:ext cx="1115568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21208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Why Gold Runs in a Separate 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596128"/>
            <a:ext cx="1115568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650992"/>
            <a:ext cx="1088136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Bronze and Silver are continuous streams that never finish — they run in their own ADF pipeline triggered once. Gold re-aggregates Silver on a 15-minute schedule (streaming_gold_pipeline) since it is a batch-style summarisation, not a continuous stream.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Streaming Gold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9 aggregated tables for real-time dashboards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1188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611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Transactions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36118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414016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stream_txn_hourly — volume &amp; amount by hour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82696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stream_txn_city — activity by 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151376"/>
            <a:ext cx="201168" cy="2011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stream_txn_type — type x channel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600200"/>
            <a:ext cx="361188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0832" y="1600200"/>
            <a:ext cx="3611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Fraud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2148840"/>
            <a:ext cx="36118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53712" y="2414016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73752" y="237744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stream_fraud_summary — by type/severity/action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3282696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73752" y="32461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stream_fraud_city — alerts by city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3712" y="4151376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73752" y="411480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stream_fraud_hourly — trend &amp; blocked 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38744" y="1600200"/>
            <a:ext cx="3611880" cy="54864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38744" y="1600200"/>
            <a:ext cx="3611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Login Events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8744" y="2148840"/>
            <a:ext cx="36118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21624" y="2414016"/>
            <a:ext cx="201168" cy="20116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41664" y="237744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stream_login_summary — success/fail by method/device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21624" y="3282696"/>
            <a:ext cx="201168" cy="20116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41664" y="32461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stream_login_failures — failure reasons by city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21624" y="4151376"/>
            <a:ext cx="201168" cy="20116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41664" y="411480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stream_login_hourly — login activity trend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Orchestration with Azure Data 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Three pipelines covering batch, streaming ingestion, and streaming gold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150876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600200"/>
            <a:ext cx="11064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1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3155"/>
                </a:solidFill>
                <a:latin typeface="Segoe UI"/>
              </a:rPr>
              <a:t>banking_batch_pipeline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148840"/>
            <a:ext cx="1828800" cy="32004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148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Manual / Scheduled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14884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run_bronze  →  run_silver  →  run_gold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0604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  ✉  Success &amp; failure email via Logic App on every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64408"/>
            <a:ext cx="73152" cy="1508760"/>
          </a:xfrm>
          <a:prstGeom prst="rect">
            <a:avLst/>
          </a:prstGeom>
          <a:solidFill>
            <a:srgbClr val="C9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264408"/>
            <a:ext cx="11064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355848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3155"/>
                </a:solidFill>
                <a:latin typeface="Segoe UI"/>
              </a:rPr>
              <a:t>streaming_pipeline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813048"/>
            <a:ext cx="1828800" cy="320040"/>
          </a:xfrm>
          <a:prstGeom prst="rect">
            <a:avLst/>
          </a:prstGeom>
          <a:solidFill>
            <a:srgbClr val="C9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81304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Run once (continuous)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813048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streaming_bronze   ‖   streaming_silver (parallel, never stop)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27024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  ✉  Failure-only alert — continuous streams have no natural completion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28616"/>
            <a:ext cx="73152" cy="150876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" y="4928616"/>
            <a:ext cx="11064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5020056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3155"/>
                </a:solidFill>
                <a:latin typeface="Segoe UI"/>
              </a:rPr>
              <a:t>streaming_gold_pipeline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5477256"/>
            <a:ext cx="1828800" cy="32004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5477256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Every 15 minutes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5477256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Segoe UI"/>
              </a:rPr>
              <a:t>streaming_gold  (re-aggregates Silver into 9 Gold tables)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93445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  ✉  Success &amp; failure email via Logic App on every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Monitoring &amp; Notifications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Azure Logic Apps + SMTP email alerts on every pipeline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8640" cy="804672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600200"/>
            <a:ext cx="106070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1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65506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3155"/>
                </a:solidFill>
                <a:latin typeface="Segoe UI"/>
              </a:rPr>
              <a:t>ADF Web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02536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Calls the Logic App HTTP trigger at the end of each pipeline activity (green arrow = success path, red arrow = failure path)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14600"/>
            <a:ext cx="548640" cy="8046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5486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514600"/>
            <a:ext cx="106070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256946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Segoe UI"/>
              </a:rPr>
              <a:t>Logic App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916936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Receives PipelineName, Status, and Time as a JSON payload via HTTP POST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29000"/>
            <a:ext cx="548640" cy="804672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5486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429000"/>
            <a:ext cx="106070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348386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7C41"/>
                </a:solidFill>
                <a:latin typeface="Segoe UI"/>
              </a:rPr>
              <a:t>Send Email (SMTP)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831336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Gmail App Password + smtp.gmail.com:465 delivers the notification to gokulgokz14@gmail.com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43400"/>
            <a:ext cx="548640" cy="804672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343400"/>
            <a:ext cx="5486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343400"/>
            <a:ext cx="106070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439826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9A02B"/>
                </a:solidFill>
                <a:latin typeface="Segoe UI"/>
              </a:rPr>
              <a:t>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745736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banking_batch_pipeline (every step)  ·  streaming_gold_pipeline (every run)  ·  streaming_pipeline (failure only)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49240"/>
            <a:ext cx="1115568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Sample JSON Payload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733288"/>
            <a:ext cx="11155680" cy="530352"/>
          </a:xfrm>
          <a:prstGeom prst="rect">
            <a:avLst/>
          </a:prstGeom>
          <a:solidFill>
            <a:srgbClr val="1E1E2E"/>
          </a:solidFill>
          <a:ln w="9525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78815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6E8F7"/>
                </a:solidFill>
                <a:latin typeface="Segoe UI"/>
              </a:rPr>
              <a:t>{ "PipelineName": "streaming_gold_pipeline",  "Status": "Succeeded",  "Time": "2026-07-01T10:15:00Z" 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Power BI — Batch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5 report pages built on the Gold star schema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77724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600200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1600200"/>
            <a:ext cx="210312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600200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B3155"/>
                </a:solidFill>
                <a:latin typeface="Segoe UI"/>
              </a:rPr>
              <a:t>Page 1  — 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673352"/>
            <a:ext cx="8595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5 KPI cards (customers, accounts, total balance, loans, loan amount), donut by account type, risk distribution bar chart, slicers for city / account type /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96312"/>
            <a:ext cx="73152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2496312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" y="2496312"/>
            <a:ext cx="210312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496312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Segoe UI"/>
              </a:rPr>
              <a:t>Page 2  —  Customer 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569464"/>
            <a:ext cx="8595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Churn status donut (Active / Inactive / At Risk / Churned), churn by city (Top 10), churn by credit tier — severity slicer for drill-down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92424"/>
            <a:ext cx="73152" cy="77724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072" y="3392424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072" y="3392424"/>
            <a:ext cx="210312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392424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C9A02B"/>
                </a:solidFill>
                <a:latin typeface="Segoe UI"/>
              </a:rPr>
              <a:t>Page 3  —  Gap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465576"/>
            <a:ext cx="8595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Avg days from signup to first account opening, gap category breakdown bar chart, by city (Top 10) and by credit tier — filtered to is_first_account = True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88536"/>
            <a:ext cx="73152" cy="77724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6072" y="4288536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6072" y="4288536"/>
            <a:ext cx="210312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288536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07C41"/>
                </a:solidFill>
                <a:latin typeface="Segoe UI"/>
              </a:rPr>
              <a:t>Page 4  —  City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361688"/>
            <a:ext cx="8595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Top 10 cities by customers, avg balance, avg credit score, total loan exposure — city dropdown slicer for cross-filtering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84648"/>
            <a:ext cx="73152" cy="777240"/>
          </a:xfrm>
          <a:prstGeom prst="rect">
            <a:avLst/>
          </a:prstGeom>
          <a:solidFill>
            <a:srgbClr val="C9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" y="5184648"/>
            <a:ext cx="11064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9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" y="5184648"/>
            <a:ext cx="210312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5184648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C96A10"/>
                </a:solidFill>
                <a:latin typeface="Segoe UI"/>
              </a:rPr>
              <a:t>Page 5  —  Monthly Trend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257800"/>
            <a:ext cx="8595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New accounts by month / year with account-type breakdown, new loans by year, seasonal column chart by month — year slicer synced across all pages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Power BI — Real-Time Streaming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3 pages built on Gold tables via Synapse 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1188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Transaction 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36118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377440"/>
            <a:ext cx="146304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Total transactions / amount / avg amount / failed transactions (KPI cards)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063240"/>
            <a:ext cx="146304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Transaction volume over time (line chart by hour)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749040"/>
            <a:ext cx="146304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Completed vs Failed vs Pending by day (stacked column)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434840"/>
            <a:ext cx="146304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3891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Transactions by city (Top 10 bar), by type (donut), by channel (bar)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1600200"/>
            <a:ext cx="361188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70832" y="160020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Fraud Monitor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2103120"/>
            <a:ext cx="36118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53712" y="2377440"/>
            <a:ext cx="146304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2" y="23317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Total alerts / amount flagged / confirmed frauds / avg risk score (KPI cards)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3712" y="3063240"/>
            <a:ext cx="146304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28032" y="30175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Alerts by severity (donut) and by fraud type (bar)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3712" y="3749040"/>
            <a:ext cx="146304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28032" y="37033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Action taken breakdown (Blocked / Flagged / Allowed)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53712" y="4434840"/>
            <a:ext cx="146304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28032" y="43891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Fraud trend over time (line), fraud hotspot cities (bar), severity slicer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1600200"/>
            <a:ext cx="3611880" cy="5029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38744" y="160020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Login Analytics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8744" y="2103120"/>
            <a:ext cx="36118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421624" y="2377440"/>
            <a:ext cx="146304" cy="14630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95944" y="23317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Total / successful / failed logins / failure rate % (KPI cards)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21624" y="3063240"/>
            <a:ext cx="146304" cy="14630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95944" y="30175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Login success vs failure (donut), logins by method and device (bars)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1624" y="3749040"/>
            <a:ext cx="146304" cy="14630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95944" y="37033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Failure reasons (bar), failed logins by city (bar)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21624" y="4434840"/>
            <a:ext cx="146304" cy="14630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95944" y="4389120"/>
            <a:ext cx="3017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Login activity over time (line), device slicer for drill-down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760720"/>
            <a:ext cx="1115568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76072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Refresh Cadence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144768"/>
            <a:ext cx="111556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6199632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Gold tables refresh every 15 minutes via ADF trigger  ·  Synapse views auto-read latest Delta files  ·  Power BI: manual refresh in Desktop, scheduled refresh in Power BI Service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Pipeline Email Notifications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Logic Apps sends success and failure emails via SMTP (Gmail)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394960" cy="41148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394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Success Notification</a:t>
            </a:r>
          </a:p>
        </p:txBody>
      </p:sp>
      <p:pic>
        <p:nvPicPr>
          <p:cNvPr id="10" name="Picture 9" descr="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394960" cy="3657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1600200"/>
            <a:ext cx="539496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94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Failure Notification</a:t>
            </a:r>
          </a:p>
        </p:txBody>
      </p:sp>
      <p:pic>
        <p:nvPicPr>
          <p:cNvPr id="13" name="Picture 12" descr="fail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03120"/>
            <a:ext cx="5394960" cy="3657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080760" y="1600200"/>
            <a:ext cx="25400" cy="4297680"/>
          </a:xfrm>
          <a:prstGeom prst="rect">
            <a:avLst/>
          </a:prstGeom>
          <a:solidFill>
            <a:srgbClr val="D6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943600"/>
            <a:ext cx="11155680" cy="384048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27648"/>
            <a:ext cx="11155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82512"/>
            <a:ext cx="10881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Segoe UI"/>
              </a:rPr>
              <a:t>ADF Web Activity (green arrow = success, red arrow = failure) calls Logic App HTTP trigger  →  Logic App sends email with Pipeline Name, Status and Time via SMTP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84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08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Key Business Insights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  <a:latin typeface="Segoe UI"/>
              </a:rPr>
              <a:t>Six actionable insights powered by this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1371600"/>
          </a:xfrm>
          <a:prstGeom prst="rect">
            <a:avLst/>
          </a:prstGeom>
          <a:solidFill>
            <a:srgbClr val="1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600200"/>
            <a:ext cx="5394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B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3155"/>
                </a:solidFill>
                <a:latin typeface="Segoe UI"/>
              </a:rPr>
              <a:t>Customer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Churn segmentation (Active / Inactive / At Risk / Churned) flags accounts going dormant before they close — enabling proactive outreach before the customer is lost.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00200"/>
            <a:ext cx="73152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28232" y="1600200"/>
            <a:ext cx="5394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Segoe UI"/>
              </a:rPr>
              <a:t>Onboarding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5740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Gap analysis measures how long customers wait between signup and opening their first product — a direct indicator of onboarding friction in the digital journey.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72968"/>
            <a:ext cx="73152" cy="13716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3172968"/>
            <a:ext cx="5394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264408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9A02B"/>
                </a:solidFill>
                <a:latin typeface="Segoe UI"/>
              </a:rPr>
              <a:t>Regional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30168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City-level metrics (avg balance, avg credit score, loan exposure) highlight which regions carry the most value and risk — informing branch and marketing investment decisions.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172968"/>
            <a:ext cx="73152" cy="137160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28232" y="3172968"/>
            <a:ext cx="5394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264408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7C41"/>
                </a:solidFill>
                <a:latin typeface="Segoe UI"/>
              </a:rPr>
              <a:t>Seasonality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30168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Monthly trend analysis reveals peak months for account openings and loan originations, helping the bank plan staffing, promotions, and system capacity in advance.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45736"/>
            <a:ext cx="73152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6072" y="4745736"/>
            <a:ext cx="5394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837176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Segoe UI"/>
              </a:rPr>
              <a:t>Live Fraud Defense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02936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Real-time fraud dashboard surfaces severity, fraud type, and city hotspots within minutes of detection — far faster than traditional end-of-day batch reporting.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745736"/>
            <a:ext cx="73152" cy="1371600"/>
          </a:xfrm>
          <a:prstGeom prst="rect">
            <a:avLst/>
          </a:prstGeom>
          <a:solidFill>
            <a:srgbClr val="C9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28232" y="4745736"/>
            <a:ext cx="53949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9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837176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96A10"/>
                </a:solidFill>
                <a:latin typeface="Segoe UI"/>
              </a:rPr>
              <a:t>Digital Channel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202936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  <a:latin typeface="Segoe UI"/>
              </a:rPr>
              <a:t>Login analytics expose failure rates by device and method, pinpointing friction in the digital banking experience before it drives customers to competitors.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601968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Banking Data Platform  ·  Batch &amp; Real-Time Streaming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6019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1B3155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73552"/>
            <a:ext cx="12191695" cy="38100"/>
          </a:xfrm>
          <a:prstGeom prst="rect">
            <a:avLst/>
          </a:prstGeom>
          <a:solidFill>
            <a:srgbClr val="C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D6E8F7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Segoe UI"/>
              </a:rPr>
              <a:t>Gokul Sankar  ·  Banking Data Platform  ·  Batch &amp; Real-Time Streaming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2113</Words>
  <Application>Microsoft Office PowerPoint</Application>
  <PresentationFormat>Widescreen</PresentationFormat>
  <Paragraphs>252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Gokul U Sankar</cp:lastModifiedBy>
  <cp:revision>4</cp:revision>
  <dcterms:created xsi:type="dcterms:W3CDTF">2013-01-27T09:14:16Z</dcterms:created>
  <dcterms:modified xsi:type="dcterms:W3CDTF">2026-07-02T13:22:18Z</dcterms:modified>
  <cp:category/>
</cp:coreProperties>
</file>